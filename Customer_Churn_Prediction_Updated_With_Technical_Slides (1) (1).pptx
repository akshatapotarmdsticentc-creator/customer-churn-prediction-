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a Pota" userId="24ee107068e7acdd" providerId="LiveId" clId="{F90A6A28-72EE-484E-BCD4-6EF7870BA52A}"/>
    <pc:docChg chg="modSld sldOrd">
      <pc:chgData name="Akshata Pota" userId="24ee107068e7acdd" providerId="LiveId" clId="{F90A6A28-72EE-484E-BCD4-6EF7870BA52A}" dt="2026-02-27T09:56:24.295" v="1"/>
      <pc:docMkLst>
        <pc:docMk/>
      </pc:docMkLst>
      <pc:sldChg chg="ord">
        <pc:chgData name="Akshata Pota" userId="24ee107068e7acdd" providerId="LiveId" clId="{F90A6A28-72EE-484E-BCD4-6EF7870BA52A}" dt="2026-02-27T09:56:24.295" v="1"/>
        <pc:sldMkLst>
          <pc:docMk/>
          <pc:sldMk cId="0" sldId="26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Customers</a:t>
            </a:r>
            <a:endParaRPr lang="en-US" dirty="0"/>
          </a:p>
        </c:rich>
      </c:tx>
      <c:overlay val="0"/>
      <c:spPr>
        <a:noFill/>
        <a:ln>
          <a:solidFill>
            <a:schemeClr val="accent6">
              <a:lumMod val="20000"/>
              <a:lumOff val="80000"/>
              <a:alpha val="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effectLst>
              <a:glow rad="431800">
                <a:schemeClr val="accent3">
                  <a:lumMod val="60000"/>
                  <a:lumOff val="40000"/>
                  <a:alpha val="21000"/>
                </a:schemeClr>
              </a:glow>
              <a:outerShdw blurRad="1270000" dist="2540000" dir="11400000" sx="200000" sy="200000" algn="t" rotWithShape="0">
                <a:schemeClr val="tx2">
                  <a:lumMod val="10000"/>
                  <a:alpha val="86000"/>
                </a:schemeClr>
              </a:outerShdw>
            </a:effectLst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glow rad="431800">
                  <a:schemeClr val="accent3">
                    <a:lumMod val="60000"/>
                    <a:lumOff val="40000"/>
                    <a:alpha val="21000"/>
                  </a:schemeClr>
                </a:glow>
                <a:outerShdw blurRad="1270000" dist="2540000" dir="11400000" sx="200000" sy="200000" algn="t" rotWithShape="0">
                  <a:schemeClr val="tx2">
                    <a:lumMod val="10000"/>
                    <a:alpha val="86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A62-4FB5-BEA9-4ADC7A97C49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glow rad="431800">
                  <a:schemeClr val="accent3">
                    <a:lumMod val="60000"/>
                    <a:lumOff val="40000"/>
                    <a:alpha val="21000"/>
                  </a:schemeClr>
                </a:glow>
                <a:outerShdw blurRad="1270000" dist="2540000" dir="11400000" sx="200000" sy="200000" algn="t" rotWithShape="0">
                  <a:schemeClr val="tx2">
                    <a:lumMod val="10000"/>
                    <a:alpha val="86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A62-4FB5-BEA9-4ADC7A97C493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Retained Customers</c:v>
                </c:pt>
                <c:pt idx="1">
                  <c:v>Churned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750</c:v>
                </c:pt>
                <c:pt idx="1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16-49EC-8D92-443F2028DD61}"/>
            </c:ext>
          </c:extLst>
        </c:ser>
        <c:dLbls>
          <c:dLblPos val="ctr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>
          <a:innerShdw blurRad="63500" dist="50800" dir="18900000">
            <a:schemeClr val="accent3">
              <a:alpha val="50000"/>
            </a:schemeClr>
          </a:innerShdw>
        </a:effectLst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ln>
                <a:noFill/>
              </a:ln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gradFill flip="none" rotWithShape="1"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  <a:tileRect/>
    </a:gra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Impact Level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Contract Type</c:v>
                </c:pt>
                <c:pt idx="1">
                  <c:v>Monthly Charges</c:v>
                </c:pt>
                <c:pt idx="2">
                  <c:v>Tenure</c:v>
                </c:pt>
                <c:pt idx="3">
                  <c:v>Customer 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70</c:v>
                </c:pt>
                <c:pt idx="2">
                  <c:v>60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47-4EAB-80C4-4187DD49F7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67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3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6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94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3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63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0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6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97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3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51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1794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16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16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72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6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3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775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117" y="2286000"/>
            <a:ext cx="83082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</a:t>
            </a:r>
          </a:p>
          <a:p>
            <a:r>
              <a:rPr lang="en-IN" dirty="0"/>
              <a:t>                                                 </a:t>
            </a:r>
            <a:r>
              <a:rPr dirty="0"/>
              <a:t>Telecom </a:t>
            </a:r>
            <a:r>
              <a:rPr dirty="0" err="1"/>
              <a:t>Industr</a:t>
            </a:r>
            <a:r>
              <a:rPr lang="en-IN" dirty="0"/>
              <a:t>y</a:t>
            </a:r>
          </a:p>
          <a:p>
            <a:r>
              <a:rPr lang="en-IN" dirty="0"/>
              <a:t>           </a:t>
            </a:r>
          </a:p>
          <a:p>
            <a:r>
              <a:rPr lang="en-IN" dirty="0"/>
              <a:t>              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refers to customers leaving the telecom service.</a:t>
            </a:r>
          </a:p>
          <a:p>
            <a:r>
              <a:t>Churn prediction helps companies retain valuable customers.</a:t>
            </a:r>
          </a:p>
          <a:p>
            <a:r>
              <a:t>This project uses Machine Learning to predict churn probability.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customer acquisition cost in telecom industry.</a:t>
            </a:r>
          </a:p>
          <a:p>
            <a:r>
              <a:t>Loss of revenue due to frequent customer churn.</a:t>
            </a:r>
          </a:p>
          <a:p>
            <a:r>
              <a:t>Need for a predictive system to identify at-risk customers.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demographics and account information.</a:t>
            </a:r>
          </a:p>
          <a:p>
            <a:r>
              <a:t>Service usage details and billing information.</a:t>
            </a:r>
          </a:p>
          <a:p>
            <a:r>
              <a:t>Target variable: Churn (Yes / No).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and Preprocessing.</a:t>
            </a:r>
          </a:p>
          <a:p>
            <a:r>
              <a:t>Exploratory Data Analysis (EDA).</a:t>
            </a:r>
          </a:p>
          <a:p>
            <a:r>
              <a:t>Model Building using Logistic Regression and Random Forest.</a:t>
            </a:r>
          </a:p>
          <a:p>
            <a:r>
              <a:t>Model Evaluation using Accuracy and ROC-AUC.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513276"/>
              </p:ext>
            </p:extLst>
          </p:nvPr>
        </p:nvGraphicFramePr>
        <p:xfrm>
          <a:off x="2171700" y="2325329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Factors Influencing Churn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866020"/>
              </p:ext>
            </p:extLst>
          </p:nvPr>
        </p:nvGraphicFramePr>
        <p:xfrm>
          <a:off x="1450258" y="2266335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achieved highest prediction accuracy (~85%).</a:t>
            </a:r>
          </a:p>
          <a:p>
            <a:r>
              <a:t>Customers with month-to-month contracts are more likely to churn.</a:t>
            </a:r>
          </a:p>
          <a:p>
            <a:r>
              <a:t>Higher monthly charges increase churn probability.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identification of high-risk customers.</a:t>
            </a:r>
          </a:p>
          <a:p>
            <a:r>
              <a:t>Targeted retention campaigns.</a:t>
            </a:r>
          </a:p>
          <a:p>
            <a:r>
              <a:t>Reduction in churn rate and increased profitability.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Source: IBM Telco Customer Churn Dataset (Kaggle)</a:t>
            </a:r>
          </a:p>
          <a:p>
            <a:r>
              <a:t>• Total Records: ~7,000 customers</a:t>
            </a:r>
          </a:p>
          <a:p>
            <a:r>
              <a:t>• Features: Demographics, services, billing &amp; contract details</a:t>
            </a:r>
          </a:p>
          <a:p>
            <a:r>
              <a:t>• Data Cleaning: Removed missing values and inconsistencies</a:t>
            </a:r>
          </a:p>
          <a:p>
            <a:r>
              <a:t>• Feature Encoding: Label Encoding &amp; One-Hot Encoding</a:t>
            </a:r>
          </a:p>
          <a:p>
            <a:r>
              <a:t>• Train-Test Split: 80% Training, 20%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Evaluation Metrics Used:</a:t>
            </a:r>
          </a:p>
          <a:p>
            <a:r>
              <a:t>  - Accuracy</a:t>
            </a:r>
          </a:p>
          <a:p>
            <a:r>
              <a:t>  - Precision</a:t>
            </a:r>
          </a:p>
          <a:p>
            <a:r>
              <a:t>  - Recall</a:t>
            </a:r>
          </a:p>
          <a:p>
            <a:r>
              <a:t>  - ROC-AUC Score</a:t>
            </a:r>
          </a:p>
          <a:p>
            <a:r>
              <a:t>• Random Forest Performance:</a:t>
            </a:r>
          </a:p>
          <a:p>
            <a:r>
              <a:t>  - Accuracy: ~85%</a:t>
            </a:r>
          </a:p>
          <a:p>
            <a:r>
              <a:t>  - Better handling of non-linear relationships</a:t>
            </a:r>
          </a:p>
          <a:p>
            <a:r>
              <a:t>• Confusion Matrix used to analyze prediction errors</a:t>
            </a:r>
          </a:p>
          <a:p>
            <a:r>
              <a:t>• ROC Curve shows strong classification capability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Implemented using Python &amp; Machine Learning libraries</a:t>
            </a:r>
          </a:p>
          <a:p>
            <a:r>
              <a:t>• Tools &amp; Libraries:</a:t>
            </a:r>
          </a:p>
          <a:p>
            <a:r>
              <a:t>  - Python</a:t>
            </a:r>
          </a:p>
          <a:p>
            <a:r>
              <a:t>  - Pandas &amp; NumPy</a:t>
            </a:r>
          </a:p>
          <a:p>
            <a:r>
              <a:t>  - Scikit-learn</a:t>
            </a:r>
          </a:p>
          <a:p>
            <a:r>
              <a:t>  - Matplotlib &amp; Seaborn</a:t>
            </a:r>
          </a:p>
          <a:p>
            <a:r>
              <a:t>• Model training and evaluation done in Jupyter Notebook</a:t>
            </a:r>
          </a:p>
          <a:p>
            <a:r>
              <a:t>• End-to-end pipeline: Data → Model →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16" y="1107706"/>
            <a:ext cx="7803682" cy="1086854"/>
          </a:xfrm>
        </p:spPr>
        <p:txBody>
          <a:bodyPr>
            <a:normAutofit/>
          </a:bodyPr>
          <a:lstStyle/>
          <a:p>
            <a:r>
              <a:rPr sz="3600" dirty="0"/>
              <a:t>Conclusion &amp; Future</a:t>
            </a:r>
            <a:r>
              <a:rPr lang="en-IN" sz="3600" dirty="0"/>
              <a:t> </a:t>
            </a:r>
            <a:r>
              <a:rPr sz="3600"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Machine learning effectively predicts customer churn.</a:t>
            </a:r>
          </a:p>
          <a:p>
            <a:r>
              <a:rPr dirty="0"/>
              <a:t>Can be integrated into real-time CRM systems.</a:t>
            </a:r>
          </a:p>
          <a:p>
            <a:r>
              <a:rPr dirty="0"/>
              <a:t>Future work: Deep Learning and real-time analytics.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F0A468-0D3B-0E5B-FD21-E6FBECD8F09A}"/>
              </a:ext>
            </a:extLst>
          </p:cNvPr>
          <p:cNvSpPr txBox="1"/>
          <p:nvPr/>
        </p:nvSpPr>
        <p:spPr>
          <a:xfrm>
            <a:off x="802106" y="4371474"/>
            <a:ext cx="3583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Project by </a:t>
            </a:r>
          </a:p>
          <a:p>
            <a:r>
              <a:rPr lang="en-IN" dirty="0"/>
              <a:t>Name : Akshata </a:t>
            </a:r>
            <a:r>
              <a:rPr lang="en-IN" dirty="0" err="1"/>
              <a:t>shrinath</a:t>
            </a:r>
            <a:r>
              <a:rPr lang="en-IN" dirty="0"/>
              <a:t> </a:t>
            </a:r>
            <a:r>
              <a:rPr lang="en-IN" dirty="0" err="1"/>
              <a:t>pota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17</TotalTime>
  <Words>379</Words>
  <Application>Microsoft Office PowerPoint</Application>
  <PresentationFormat>On-screen Show (4:3)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Times New Roman</vt:lpstr>
      <vt:lpstr>Vapor Trail</vt:lpstr>
      <vt:lpstr>PowerPoint Presentation</vt:lpstr>
      <vt:lpstr>Project Overview</vt:lpstr>
      <vt:lpstr>Business Problem</vt:lpstr>
      <vt:lpstr>Dataset Description</vt:lpstr>
      <vt:lpstr>Methodology</vt:lpstr>
      <vt:lpstr>Customer Churn Distribution</vt:lpstr>
      <vt:lpstr>Key Factors Influencing Churn</vt:lpstr>
      <vt:lpstr>Results &amp; Insights</vt:lpstr>
      <vt:lpstr>Business Impact</vt:lpstr>
      <vt:lpstr>Dataset &amp; Preprocessing</vt:lpstr>
      <vt:lpstr>Model Evaluation</vt:lpstr>
      <vt:lpstr>Implementation Proof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Akshata Pota</cp:lastModifiedBy>
  <cp:revision>3</cp:revision>
  <dcterms:created xsi:type="dcterms:W3CDTF">2013-01-27T09:14:16Z</dcterms:created>
  <dcterms:modified xsi:type="dcterms:W3CDTF">2026-02-27T09:56:34Z</dcterms:modified>
  <cp:category/>
</cp:coreProperties>
</file>